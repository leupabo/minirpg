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Montserrat" panose="00000500000000000000" pitchFamily="2" charset="0"/>
      <p:regular r:id="rId16"/>
    </p:embeddedFont>
    <p:embeddedFont>
      <p:font typeface="Montserrat Bold" panose="020B0604020202020204" charset="0"/>
      <p:regular r:id="rId17"/>
    </p:embeddedFont>
    <p:embeddedFont>
      <p:font typeface="Ovo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42866" y="-6679304"/>
            <a:ext cx="16966304" cy="16966304"/>
          </a:xfrm>
          <a:custGeom>
            <a:avLst/>
            <a:gdLst/>
            <a:ahLst/>
            <a:cxnLst/>
            <a:rect l="l" t="t" r="r" b="b"/>
            <a:pathLst>
              <a:path w="16966304" h="16966304">
                <a:moveTo>
                  <a:pt x="0" y="0"/>
                </a:moveTo>
                <a:lnTo>
                  <a:pt x="16966304" y="0"/>
                </a:lnTo>
                <a:lnTo>
                  <a:pt x="16966304" y="16966304"/>
                </a:lnTo>
                <a:lnTo>
                  <a:pt x="0" y="16966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4688619" y="4481698"/>
            <a:ext cx="13371176" cy="154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10"/>
              </a:lnSpc>
            </a:pPr>
            <a:r>
              <a:rPr lang="en-US" sz="11610" b="1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PROJET HK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788585" y="8739618"/>
            <a:ext cx="4271211" cy="1358206"/>
            <a:chOff x="0" y="0"/>
            <a:chExt cx="1124928" cy="3577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4928" cy="357717"/>
            </a:xfrm>
            <a:custGeom>
              <a:avLst/>
              <a:gdLst/>
              <a:ahLst/>
              <a:cxnLst/>
              <a:rect l="l" t="t" r="r" b="b"/>
              <a:pathLst>
                <a:path w="1124928" h="357717">
                  <a:moveTo>
                    <a:pt x="56190" y="0"/>
                  </a:moveTo>
                  <a:lnTo>
                    <a:pt x="1068738" y="0"/>
                  </a:lnTo>
                  <a:cubicBezTo>
                    <a:pt x="1099771" y="0"/>
                    <a:pt x="1124928" y="25157"/>
                    <a:pt x="1124928" y="56190"/>
                  </a:cubicBezTo>
                  <a:lnTo>
                    <a:pt x="1124928" y="301527"/>
                  </a:lnTo>
                  <a:cubicBezTo>
                    <a:pt x="1124928" y="332560"/>
                    <a:pt x="1099771" y="357717"/>
                    <a:pt x="1068738" y="357717"/>
                  </a:cubicBezTo>
                  <a:lnTo>
                    <a:pt x="56190" y="357717"/>
                  </a:lnTo>
                  <a:cubicBezTo>
                    <a:pt x="25157" y="357717"/>
                    <a:pt x="0" y="332560"/>
                    <a:pt x="0" y="301527"/>
                  </a:cubicBezTo>
                  <a:lnTo>
                    <a:pt x="0" y="56190"/>
                  </a:lnTo>
                  <a:cubicBezTo>
                    <a:pt x="0" y="25157"/>
                    <a:pt x="25157" y="0"/>
                    <a:pt x="56190" y="0"/>
                  </a:cubicBezTo>
                  <a:close/>
                </a:path>
              </a:pathLst>
            </a:custGeom>
            <a:solidFill>
              <a:srgbClr val="B8CCD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24928" cy="395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852889" y="9129796"/>
            <a:ext cx="4142601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99"/>
              </a:lnSpc>
            </a:pPr>
            <a:r>
              <a:rPr lang="en-US" sz="24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HONG UGO P2307653</a:t>
            </a:r>
          </a:p>
          <a:p>
            <a:pPr algn="just">
              <a:lnSpc>
                <a:spcPts val="2499"/>
              </a:lnSpc>
            </a:pPr>
            <a:r>
              <a:rPr lang="en-US" sz="24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KOEUT ETHAN P2207925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860655" y="8296153"/>
            <a:ext cx="3131431" cy="2967031"/>
          </a:xfrm>
          <a:custGeom>
            <a:avLst/>
            <a:gdLst/>
            <a:ahLst/>
            <a:cxnLst/>
            <a:rect l="l" t="t" r="r" b="b"/>
            <a:pathLst>
              <a:path w="3131431" h="2967031">
                <a:moveTo>
                  <a:pt x="3131431" y="0"/>
                </a:moveTo>
                <a:lnTo>
                  <a:pt x="0" y="0"/>
                </a:lnTo>
                <a:lnTo>
                  <a:pt x="0" y="2967031"/>
                </a:lnTo>
                <a:lnTo>
                  <a:pt x="3131431" y="2967031"/>
                </a:lnTo>
                <a:lnTo>
                  <a:pt x="31314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6289521" y="-954336"/>
            <a:ext cx="3116691" cy="3116691"/>
          </a:xfrm>
          <a:custGeom>
            <a:avLst/>
            <a:gdLst/>
            <a:ahLst/>
            <a:cxnLst/>
            <a:rect l="l" t="t" r="r" b="b"/>
            <a:pathLst>
              <a:path w="3116691" h="3116691">
                <a:moveTo>
                  <a:pt x="0" y="0"/>
                </a:moveTo>
                <a:lnTo>
                  <a:pt x="3116690" y="0"/>
                </a:lnTo>
                <a:lnTo>
                  <a:pt x="3116690" y="3116691"/>
                </a:lnTo>
                <a:lnTo>
                  <a:pt x="0" y="3116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3415066" y="1028700"/>
            <a:ext cx="11457867" cy="5747355"/>
          </a:xfrm>
          <a:custGeom>
            <a:avLst/>
            <a:gdLst/>
            <a:ahLst/>
            <a:cxnLst/>
            <a:rect l="l" t="t" r="r" b="b"/>
            <a:pathLst>
              <a:path w="11457867" h="5747355">
                <a:moveTo>
                  <a:pt x="0" y="0"/>
                </a:moveTo>
                <a:lnTo>
                  <a:pt x="11457868" y="0"/>
                </a:lnTo>
                <a:lnTo>
                  <a:pt x="11457868" y="5747355"/>
                </a:lnTo>
                <a:lnTo>
                  <a:pt x="0" y="57473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643610" y="7164596"/>
            <a:ext cx="17000779" cy="141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7"/>
              </a:lnSpc>
            </a:pPr>
            <a:r>
              <a:rPr lang="en-US" sz="36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Jeu de type RPG consistant en plusieurs cartes remplies de monstres.</a:t>
            </a:r>
          </a:p>
          <a:p>
            <a:pPr algn="ctr">
              <a:lnSpc>
                <a:spcPts val="5817"/>
              </a:lnSpc>
            </a:pPr>
            <a:r>
              <a:rPr lang="en-US" sz="36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L’objectif du joueur est d’abattre les 28 monstres du monde.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EE542D87-33DB-576A-0C5F-1FC03464F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6276" y="0"/>
            <a:ext cx="11195447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97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6758" y="532766"/>
            <a:ext cx="5400193" cy="1273280"/>
            <a:chOff x="0" y="0"/>
            <a:chExt cx="1742846" cy="410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2846" cy="410936"/>
            </a:xfrm>
            <a:custGeom>
              <a:avLst/>
              <a:gdLst/>
              <a:ahLst/>
              <a:cxnLst/>
              <a:rect l="l" t="t" r="r" b="b"/>
              <a:pathLst>
                <a:path w="1742846" h="410936">
                  <a:moveTo>
                    <a:pt x="35841" y="0"/>
                  </a:moveTo>
                  <a:lnTo>
                    <a:pt x="1707005" y="0"/>
                  </a:lnTo>
                  <a:cubicBezTo>
                    <a:pt x="1716511" y="0"/>
                    <a:pt x="1725627" y="3776"/>
                    <a:pt x="1732348" y="10498"/>
                  </a:cubicBezTo>
                  <a:cubicBezTo>
                    <a:pt x="1739070" y="17219"/>
                    <a:pt x="1742846" y="26335"/>
                    <a:pt x="1742846" y="35841"/>
                  </a:cubicBezTo>
                  <a:lnTo>
                    <a:pt x="1742846" y="375095"/>
                  </a:lnTo>
                  <a:cubicBezTo>
                    <a:pt x="1742846" y="384600"/>
                    <a:pt x="1739070" y="393716"/>
                    <a:pt x="1732348" y="400438"/>
                  </a:cubicBezTo>
                  <a:cubicBezTo>
                    <a:pt x="1725627" y="407159"/>
                    <a:pt x="1716511" y="410936"/>
                    <a:pt x="1707005" y="410936"/>
                  </a:cubicBezTo>
                  <a:lnTo>
                    <a:pt x="35841" y="410936"/>
                  </a:lnTo>
                  <a:cubicBezTo>
                    <a:pt x="26335" y="410936"/>
                    <a:pt x="17219" y="407159"/>
                    <a:pt x="10498" y="400438"/>
                  </a:cubicBezTo>
                  <a:cubicBezTo>
                    <a:pt x="3776" y="393716"/>
                    <a:pt x="0" y="384600"/>
                    <a:pt x="0" y="375095"/>
                  </a:cubicBezTo>
                  <a:lnTo>
                    <a:pt x="0" y="35841"/>
                  </a:lnTo>
                  <a:cubicBezTo>
                    <a:pt x="0" y="26335"/>
                    <a:pt x="3776" y="17219"/>
                    <a:pt x="10498" y="10498"/>
                  </a:cubicBezTo>
                  <a:cubicBezTo>
                    <a:pt x="17219" y="3776"/>
                    <a:pt x="26335" y="0"/>
                    <a:pt x="35841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2846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7805" y="2499349"/>
            <a:ext cx="11374005" cy="6300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89" algn="l">
              <a:lnSpc>
                <a:spcPts val="3555"/>
              </a:lnSpc>
              <a:buFont typeface="Arial"/>
              <a:buChar char="•"/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</a:t>
            </a: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sse Map : Cœur de l'environnement de jeu</a:t>
            </a:r>
          </a:p>
          <a:p>
            <a:pPr marL="474979" lvl="1" indent="-237489" algn="l">
              <a:lnSpc>
                <a:spcPts val="3555"/>
              </a:lnSpc>
              <a:buFont typeface="Arial"/>
              <a:buChar char="•"/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Rôle central : Représente l'environnement de jeu avec une grille 2D de tuiles</a:t>
            </a:r>
          </a:p>
          <a:p>
            <a:pPr marL="474979" lvl="1" indent="-237489" algn="l">
              <a:lnSpc>
                <a:spcPts val="3555"/>
              </a:lnSpc>
              <a:buFont typeface="Arial"/>
              <a:buChar char="•"/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des tuiles :</a:t>
            </a:r>
          </a:p>
          <a:p>
            <a:pPr algn="l">
              <a:lnSpc>
                <a:spcPts val="3555"/>
              </a:lnSpc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Différents types (sol, mur, eau, arbre, portail)</a:t>
            </a:r>
          </a:p>
          <a:p>
            <a:pPr algn="l">
              <a:lnSpc>
                <a:spcPts val="3555"/>
              </a:lnSpc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Vérification de collision (isWalkable())</a:t>
            </a:r>
          </a:p>
          <a:p>
            <a:pPr marL="474979" lvl="1" indent="-237489" algn="l">
              <a:lnSpc>
                <a:spcPts val="3555"/>
              </a:lnSpc>
              <a:buFont typeface="Arial"/>
              <a:buChar char="•"/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portails :</a:t>
            </a:r>
          </a:p>
          <a:p>
            <a:pPr algn="l">
              <a:lnSpc>
                <a:spcPts val="3555"/>
              </a:lnSpc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Connexion entre différentes cartes</a:t>
            </a:r>
          </a:p>
          <a:p>
            <a:pPr algn="l">
              <a:lnSpc>
                <a:spcPts val="3555"/>
              </a:lnSpc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Transition fluide entre les zones de jeu</a:t>
            </a:r>
          </a:p>
          <a:p>
            <a:pPr marL="474979" lvl="1" indent="-237489" algn="l">
              <a:lnSpc>
                <a:spcPts val="3555"/>
              </a:lnSpc>
              <a:buFont typeface="Arial"/>
              <a:buChar char="•"/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Chargement dynamique</a:t>
            </a:r>
          </a:p>
          <a:p>
            <a:pPr algn="l">
              <a:lnSpc>
                <a:spcPts val="3555"/>
              </a:lnSpc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Chargement depuis fichiers texte (loadFromFile())</a:t>
            </a:r>
          </a:p>
          <a:p>
            <a:pPr algn="l">
              <a:lnSpc>
                <a:spcPts val="3555"/>
              </a:lnSpc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par ID (loadFromId())</a:t>
            </a:r>
          </a:p>
          <a:p>
            <a:pPr marL="474979" lvl="1" indent="-237489" algn="l">
              <a:lnSpc>
                <a:spcPts val="3555"/>
              </a:lnSpc>
              <a:buFont typeface="Arial"/>
              <a:buChar char="•"/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Interaction avec entités :</a:t>
            </a:r>
          </a:p>
          <a:p>
            <a:pPr algn="l">
              <a:lnSpc>
                <a:spcPts val="3555"/>
              </a:lnSpc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Fournit le contexte spatial pour tous les mouvements</a:t>
            </a:r>
          </a:p>
          <a:p>
            <a:pPr algn="l">
              <a:lnSpc>
                <a:spcPts val="3555"/>
              </a:lnSpc>
            </a:pPr>
            <a:r>
              <a:rPr lang="en-US" sz="21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Utilisée par toutes les entités pour la navigation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2115952" y="532766"/>
            <a:ext cx="5679929" cy="9056110"/>
          </a:xfrm>
          <a:custGeom>
            <a:avLst/>
            <a:gdLst/>
            <a:ahLst/>
            <a:cxnLst/>
            <a:rect l="l" t="t" r="r" b="b"/>
            <a:pathLst>
              <a:path w="5679929" h="9056110">
                <a:moveTo>
                  <a:pt x="0" y="0"/>
                </a:moveTo>
                <a:lnTo>
                  <a:pt x="5679929" y="0"/>
                </a:lnTo>
                <a:lnTo>
                  <a:pt x="5679929" y="9056110"/>
                </a:lnTo>
                <a:lnTo>
                  <a:pt x="0" y="9056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-63781" y="779105"/>
            <a:ext cx="5117217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MAP</a:t>
            </a:r>
          </a:p>
        </p:txBody>
      </p:sp>
      <p:sp>
        <p:nvSpPr>
          <p:cNvPr id="8" name="AutoShape 8"/>
          <p:cNvSpPr/>
          <p:nvPr/>
        </p:nvSpPr>
        <p:spPr>
          <a:xfrm>
            <a:off x="-125529" y="9699458"/>
            <a:ext cx="6492240" cy="0"/>
          </a:xfrm>
          <a:prstGeom prst="line">
            <a:avLst/>
          </a:prstGeom>
          <a:ln w="19050" cap="flat">
            <a:solidFill>
              <a:srgbClr val="91AA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6125439" y="9578822"/>
            <a:ext cx="241271" cy="241271"/>
          </a:xfrm>
          <a:custGeom>
            <a:avLst/>
            <a:gdLst/>
            <a:ahLst/>
            <a:cxnLst/>
            <a:rect l="l" t="t" r="r" b="b"/>
            <a:pathLst>
              <a:path w="241271" h="241271">
                <a:moveTo>
                  <a:pt x="0" y="0"/>
                </a:moveTo>
                <a:lnTo>
                  <a:pt x="241272" y="0"/>
                </a:lnTo>
                <a:lnTo>
                  <a:pt x="241272" y="241272"/>
                </a:lnTo>
                <a:lnTo>
                  <a:pt x="0" y="241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4754335" y="9578822"/>
            <a:ext cx="241271" cy="241271"/>
          </a:xfrm>
          <a:custGeom>
            <a:avLst/>
            <a:gdLst/>
            <a:ahLst/>
            <a:cxnLst/>
            <a:rect l="l" t="t" r="r" b="b"/>
            <a:pathLst>
              <a:path w="241271" h="241271">
                <a:moveTo>
                  <a:pt x="0" y="0"/>
                </a:moveTo>
                <a:lnTo>
                  <a:pt x="241271" y="0"/>
                </a:lnTo>
                <a:lnTo>
                  <a:pt x="241271" y="241272"/>
                </a:lnTo>
                <a:lnTo>
                  <a:pt x="0" y="241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6758" y="532766"/>
            <a:ext cx="5400193" cy="1273280"/>
            <a:chOff x="0" y="0"/>
            <a:chExt cx="1742846" cy="410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2846" cy="410936"/>
            </a:xfrm>
            <a:custGeom>
              <a:avLst/>
              <a:gdLst/>
              <a:ahLst/>
              <a:cxnLst/>
              <a:rect l="l" t="t" r="r" b="b"/>
              <a:pathLst>
                <a:path w="1742846" h="410936">
                  <a:moveTo>
                    <a:pt x="35841" y="0"/>
                  </a:moveTo>
                  <a:lnTo>
                    <a:pt x="1707005" y="0"/>
                  </a:lnTo>
                  <a:cubicBezTo>
                    <a:pt x="1716511" y="0"/>
                    <a:pt x="1725627" y="3776"/>
                    <a:pt x="1732348" y="10498"/>
                  </a:cubicBezTo>
                  <a:cubicBezTo>
                    <a:pt x="1739070" y="17219"/>
                    <a:pt x="1742846" y="26335"/>
                    <a:pt x="1742846" y="35841"/>
                  </a:cubicBezTo>
                  <a:lnTo>
                    <a:pt x="1742846" y="375095"/>
                  </a:lnTo>
                  <a:cubicBezTo>
                    <a:pt x="1742846" y="384600"/>
                    <a:pt x="1739070" y="393716"/>
                    <a:pt x="1732348" y="400438"/>
                  </a:cubicBezTo>
                  <a:cubicBezTo>
                    <a:pt x="1725627" y="407159"/>
                    <a:pt x="1716511" y="410936"/>
                    <a:pt x="1707005" y="410936"/>
                  </a:cubicBezTo>
                  <a:lnTo>
                    <a:pt x="35841" y="410936"/>
                  </a:lnTo>
                  <a:cubicBezTo>
                    <a:pt x="26335" y="410936"/>
                    <a:pt x="17219" y="407159"/>
                    <a:pt x="10498" y="400438"/>
                  </a:cubicBezTo>
                  <a:cubicBezTo>
                    <a:pt x="3776" y="393716"/>
                    <a:pt x="0" y="384600"/>
                    <a:pt x="0" y="375095"/>
                  </a:cubicBezTo>
                  <a:lnTo>
                    <a:pt x="0" y="35841"/>
                  </a:lnTo>
                  <a:cubicBezTo>
                    <a:pt x="0" y="26335"/>
                    <a:pt x="3776" y="17219"/>
                    <a:pt x="10498" y="10498"/>
                  </a:cubicBezTo>
                  <a:cubicBezTo>
                    <a:pt x="17219" y="3776"/>
                    <a:pt x="26335" y="0"/>
                    <a:pt x="35841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2846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121316" y="532766"/>
            <a:ext cx="10042357" cy="5902237"/>
          </a:xfrm>
          <a:custGeom>
            <a:avLst/>
            <a:gdLst/>
            <a:ahLst/>
            <a:cxnLst/>
            <a:rect l="l" t="t" r="r" b="b"/>
            <a:pathLst>
              <a:path w="10042357" h="5902237">
                <a:moveTo>
                  <a:pt x="0" y="0"/>
                </a:moveTo>
                <a:lnTo>
                  <a:pt x="10042356" y="0"/>
                </a:lnTo>
                <a:lnTo>
                  <a:pt x="10042356" y="5902236"/>
                </a:lnTo>
                <a:lnTo>
                  <a:pt x="0" y="5902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210553" y="2213235"/>
            <a:ext cx="12432632" cy="72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3" lvl="1" indent="-226697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Classe E</a:t>
            </a: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ntity : Base abstraite du système d'objets</a:t>
            </a:r>
          </a:p>
          <a:p>
            <a:pPr marL="453393" lvl="1" indent="-226697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Classe abstraite fondamentale : 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Parent de tous les objets interactifs du jeu</a:t>
            </a:r>
          </a:p>
          <a:p>
            <a:pPr marL="453393" lvl="1" indent="-226697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Propriétés communes essentielles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Position (x, y) dans la grille de jeu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Symbole de représentation visuelle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points de vie (health, maxHealth)</a:t>
            </a:r>
          </a:p>
          <a:p>
            <a:pPr marL="453393" lvl="1" indent="-226697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des mouvements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Méthode move() avec vérification de collision via Map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Positionnement contrôlé (setPosition())</a:t>
            </a:r>
          </a:p>
          <a:p>
            <a:pPr marL="453393" lvl="1" indent="-226697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santé universel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Mécanismes de dégâts (setDmg())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Récupération de santé (addHp())</a:t>
            </a:r>
          </a:p>
          <a:p>
            <a:pPr marL="453393" lvl="1" indent="-226697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Polymorphisme par méthode abstraite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update() : comportement spécifique à chaque type d'entité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Permet une gestion unifiée des objets de jeu</a:t>
            </a:r>
          </a:p>
          <a:p>
            <a:pPr marL="453393" lvl="1" indent="-226697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Hiérarchie : Player, Enemy, Arrow, Bomb et Item héritent tous de cette classe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779105"/>
            <a:ext cx="5053435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6758" y="532766"/>
            <a:ext cx="5400193" cy="1273280"/>
            <a:chOff x="0" y="0"/>
            <a:chExt cx="1742846" cy="410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2846" cy="410936"/>
            </a:xfrm>
            <a:custGeom>
              <a:avLst/>
              <a:gdLst/>
              <a:ahLst/>
              <a:cxnLst/>
              <a:rect l="l" t="t" r="r" b="b"/>
              <a:pathLst>
                <a:path w="1742846" h="410936">
                  <a:moveTo>
                    <a:pt x="35841" y="0"/>
                  </a:moveTo>
                  <a:lnTo>
                    <a:pt x="1707005" y="0"/>
                  </a:lnTo>
                  <a:cubicBezTo>
                    <a:pt x="1716511" y="0"/>
                    <a:pt x="1725627" y="3776"/>
                    <a:pt x="1732348" y="10498"/>
                  </a:cubicBezTo>
                  <a:cubicBezTo>
                    <a:pt x="1739070" y="17219"/>
                    <a:pt x="1742846" y="26335"/>
                    <a:pt x="1742846" y="35841"/>
                  </a:cubicBezTo>
                  <a:lnTo>
                    <a:pt x="1742846" y="375095"/>
                  </a:lnTo>
                  <a:cubicBezTo>
                    <a:pt x="1742846" y="384600"/>
                    <a:pt x="1739070" y="393716"/>
                    <a:pt x="1732348" y="400438"/>
                  </a:cubicBezTo>
                  <a:cubicBezTo>
                    <a:pt x="1725627" y="407159"/>
                    <a:pt x="1716511" y="410936"/>
                    <a:pt x="1707005" y="410936"/>
                  </a:cubicBezTo>
                  <a:lnTo>
                    <a:pt x="35841" y="410936"/>
                  </a:lnTo>
                  <a:cubicBezTo>
                    <a:pt x="26335" y="410936"/>
                    <a:pt x="17219" y="407159"/>
                    <a:pt x="10498" y="400438"/>
                  </a:cubicBezTo>
                  <a:cubicBezTo>
                    <a:pt x="3776" y="393716"/>
                    <a:pt x="0" y="384600"/>
                    <a:pt x="0" y="375095"/>
                  </a:cubicBezTo>
                  <a:lnTo>
                    <a:pt x="0" y="35841"/>
                  </a:lnTo>
                  <a:cubicBezTo>
                    <a:pt x="0" y="26335"/>
                    <a:pt x="3776" y="17219"/>
                    <a:pt x="10498" y="10498"/>
                  </a:cubicBezTo>
                  <a:cubicBezTo>
                    <a:pt x="17219" y="3776"/>
                    <a:pt x="26335" y="0"/>
                    <a:pt x="35841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2846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63000" y="372345"/>
            <a:ext cx="9180699" cy="6708973"/>
          </a:xfrm>
          <a:custGeom>
            <a:avLst/>
            <a:gdLst/>
            <a:ahLst/>
            <a:cxnLst/>
            <a:rect l="l" t="t" r="r" b="b"/>
            <a:pathLst>
              <a:path w="9180699" h="6708973">
                <a:moveTo>
                  <a:pt x="0" y="0"/>
                </a:moveTo>
                <a:lnTo>
                  <a:pt x="9180699" y="0"/>
                </a:lnTo>
                <a:lnTo>
                  <a:pt x="9180699" y="6708972"/>
                </a:lnTo>
                <a:lnTo>
                  <a:pt x="0" y="670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234760" y="2157973"/>
            <a:ext cx="10960387" cy="728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Classe Player : Protagoniste contrôlable du jeu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Entité centrale contrôlée par l'utilisateur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Hérite d'Entity avec des fonctionnalités spécifiques au joueur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Point focal de l'expérience de jeu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directi</a:t>
            </a: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on et mouvement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Orientation dans 4 directions (haut, bas, gauche, droite)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des entrées utilisateur via handleInput()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Arsenal d'attaques diversifié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Attaque au corps à corps avec épée (performAttack())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Tir de flèches à distance (shootArrow())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Placement de bombes stratégiques (placeBomb())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cooldown sophistiqué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des délais entre attaques pour chaque arme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Méthodes de vérification (canAttack(), canShootArrow(), canPlaceBomb())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Interaction avec l'environnement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Détection des portails et transition entre cartes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Collecte d'objets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63781" y="779105"/>
            <a:ext cx="5117217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6758" y="532766"/>
            <a:ext cx="5400193" cy="1273280"/>
            <a:chOff x="0" y="0"/>
            <a:chExt cx="1742846" cy="410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2846" cy="410936"/>
            </a:xfrm>
            <a:custGeom>
              <a:avLst/>
              <a:gdLst/>
              <a:ahLst/>
              <a:cxnLst/>
              <a:rect l="l" t="t" r="r" b="b"/>
              <a:pathLst>
                <a:path w="1742846" h="410936">
                  <a:moveTo>
                    <a:pt x="35841" y="0"/>
                  </a:moveTo>
                  <a:lnTo>
                    <a:pt x="1707005" y="0"/>
                  </a:lnTo>
                  <a:cubicBezTo>
                    <a:pt x="1716511" y="0"/>
                    <a:pt x="1725627" y="3776"/>
                    <a:pt x="1732348" y="10498"/>
                  </a:cubicBezTo>
                  <a:cubicBezTo>
                    <a:pt x="1739070" y="17219"/>
                    <a:pt x="1742846" y="26335"/>
                    <a:pt x="1742846" y="35841"/>
                  </a:cubicBezTo>
                  <a:lnTo>
                    <a:pt x="1742846" y="375095"/>
                  </a:lnTo>
                  <a:cubicBezTo>
                    <a:pt x="1742846" y="384600"/>
                    <a:pt x="1739070" y="393716"/>
                    <a:pt x="1732348" y="400438"/>
                  </a:cubicBezTo>
                  <a:cubicBezTo>
                    <a:pt x="1725627" y="407159"/>
                    <a:pt x="1716511" y="410936"/>
                    <a:pt x="1707005" y="410936"/>
                  </a:cubicBezTo>
                  <a:lnTo>
                    <a:pt x="35841" y="410936"/>
                  </a:lnTo>
                  <a:cubicBezTo>
                    <a:pt x="26335" y="410936"/>
                    <a:pt x="17219" y="407159"/>
                    <a:pt x="10498" y="400438"/>
                  </a:cubicBezTo>
                  <a:cubicBezTo>
                    <a:pt x="3776" y="393716"/>
                    <a:pt x="0" y="384600"/>
                    <a:pt x="0" y="375095"/>
                  </a:cubicBezTo>
                  <a:lnTo>
                    <a:pt x="0" y="35841"/>
                  </a:lnTo>
                  <a:cubicBezTo>
                    <a:pt x="0" y="26335"/>
                    <a:pt x="3776" y="17219"/>
                    <a:pt x="10498" y="10498"/>
                  </a:cubicBezTo>
                  <a:cubicBezTo>
                    <a:pt x="17219" y="3776"/>
                    <a:pt x="26335" y="0"/>
                    <a:pt x="35841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2846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963526" y="532766"/>
            <a:ext cx="9010013" cy="6806025"/>
          </a:xfrm>
          <a:custGeom>
            <a:avLst/>
            <a:gdLst/>
            <a:ahLst/>
            <a:cxnLst/>
            <a:rect l="l" t="t" r="r" b="b"/>
            <a:pathLst>
              <a:path w="9010013" h="6806025">
                <a:moveTo>
                  <a:pt x="0" y="0"/>
                </a:moveTo>
                <a:lnTo>
                  <a:pt x="9010014" y="0"/>
                </a:lnTo>
                <a:lnTo>
                  <a:pt x="9010014" y="6806025"/>
                </a:lnTo>
                <a:lnTo>
                  <a:pt x="0" y="6806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205775" y="2206068"/>
            <a:ext cx="14076947" cy="7613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555"/>
              </a:lnSpc>
              <a:buFont typeface="Arial"/>
              <a:buChar char="•"/>
            </a:pPr>
            <a:r>
              <a:rPr lang="en-US" sz="22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Classe E</a:t>
            </a: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nemy : Adversaires intelligents et dynamiques</a:t>
            </a:r>
          </a:p>
          <a:p>
            <a:pPr marL="474981" lvl="1" indent="-237491" algn="l">
              <a:lnSpc>
                <a:spcPts val="3555"/>
              </a:lnSpc>
              <a:buFont typeface="Arial"/>
              <a:buChar char="•"/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Antagonistes adaptatifs :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Hérite d'Entity avec comportement hostile spécifique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Différents états (normal/alerte) avec symboles distincts</a:t>
            </a:r>
          </a:p>
          <a:p>
            <a:pPr marL="474981" lvl="1" indent="-237491" algn="l">
              <a:lnSpc>
                <a:spcPts val="3555"/>
              </a:lnSpc>
              <a:buFont typeface="Arial"/>
              <a:buChar char="•"/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IA de mouvement évoluée :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Déplacement aléatoire en mode normal (moveRandomly())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Pathfinding vers le joueur en mode alerte (findPath())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Vitesse de mouvement paramétrable</a:t>
            </a:r>
          </a:p>
          <a:p>
            <a:pPr marL="474981" lvl="1" indent="-237491" algn="l">
              <a:lnSpc>
                <a:spcPts val="3555"/>
              </a:lnSpc>
              <a:buFont typeface="Arial"/>
              <a:buChar char="•"/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détection et poursuite :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Acquisition de cible (setTarget()) quand joueur à proximité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Changement d'état visuel lors de l'alerte</a:t>
            </a:r>
          </a:p>
          <a:p>
            <a:pPr marL="474981" lvl="1" indent="-237491" algn="l">
              <a:lnSpc>
                <a:spcPts val="3555"/>
              </a:lnSpc>
              <a:buFont typeface="Arial"/>
              <a:buChar char="•"/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Mécanisme d'attaque temporisé :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Cooldown entre attaques (updateAttackCooldown())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Dégâts au joueur lors du contact</a:t>
            </a:r>
          </a:p>
          <a:p>
            <a:pPr marL="474981" lvl="1" indent="-237491" algn="l">
              <a:lnSpc>
                <a:spcPts val="3555"/>
              </a:lnSpc>
              <a:buFont typeface="Arial"/>
              <a:buChar char="•"/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récompense :</a:t>
            </a:r>
          </a:p>
          <a:p>
            <a:pPr algn="l">
              <a:lnSpc>
                <a:spcPts val="3555"/>
              </a:lnSpc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Possibilité de lâcher des objets à la mort (dropItem())</a:t>
            </a:r>
          </a:p>
          <a:p>
            <a:pPr marL="474981" lvl="1" indent="-237491" algn="l">
              <a:lnSpc>
                <a:spcPts val="3555"/>
              </a:lnSpc>
              <a:buFont typeface="Arial"/>
              <a:buChar char="•"/>
            </a:pPr>
            <a:r>
              <a:rPr lang="en-US" sz="22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Persistance : Sauvegarde/chargement via JSON pour préserver l'état entre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63781" y="779105"/>
            <a:ext cx="5117217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6758" y="532766"/>
            <a:ext cx="8087246" cy="1273280"/>
            <a:chOff x="0" y="0"/>
            <a:chExt cx="2610059" cy="410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0059" cy="410936"/>
            </a:xfrm>
            <a:custGeom>
              <a:avLst/>
              <a:gdLst/>
              <a:ahLst/>
              <a:cxnLst/>
              <a:rect l="l" t="t" r="r" b="b"/>
              <a:pathLst>
                <a:path w="2610059" h="410936">
                  <a:moveTo>
                    <a:pt x="23932" y="0"/>
                  </a:moveTo>
                  <a:lnTo>
                    <a:pt x="2586127" y="0"/>
                  </a:lnTo>
                  <a:cubicBezTo>
                    <a:pt x="2599344" y="0"/>
                    <a:pt x="2610059" y="10715"/>
                    <a:pt x="2610059" y="23932"/>
                  </a:cubicBezTo>
                  <a:lnTo>
                    <a:pt x="2610059" y="387003"/>
                  </a:lnTo>
                  <a:cubicBezTo>
                    <a:pt x="2610059" y="393350"/>
                    <a:pt x="2607538" y="399438"/>
                    <a:pt x="2603050" y="403926"/>
                  </a:cubicBezTo>
                  <a:cubicBezTo>
                    <a:pt x="2598561" y="408414"/>
                    <a:pt x="2592474" y="410936"/>
                    <a:pt x="2586127" y="410936"/>
                  </a:cubicBezTo>
                  <a:lnTo>
                    <a:pt x="23932" y="410936"/>
                  </a:lnTo>
                  <a:cubicBezTo>
                    <a:pt x="17585" y="410936"/>
                    <a:pt x="11498" y="408414"/>
                    <a:pt x="7010" y="403926"/>
                  </a:cubicBezTo>
                  <a:cubicBezTo>
                    <a:pt x="2521" y="399438"/>
                    <a:pt x="0" y="393350"/>
                    <a:pt x="0" y="387003"/>
                  </a:cubicBezTo>
                  <a:lnTo>
                    <a:pt x="0" y="23932"/>
                  </a:lnTo>
                  <a:cubicBezTo>
                    <a:pt x="0" y="17585"/>
                    <a:pt x="2521" y="11498"/>
                    <a:pt x="7010" y="7010"/>
                  </a:cubicBezTo>
                  <a:cubicBezTo>
                    <a:pt x="11498" y="2521"/>
                    <a:pt x="17585" y="0"/>
                    <a:pt x="23932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10059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319225" y="1437027"/>
            <a:ext cx="8783053" cy="6634583"/>
          </a:xfrm>
          <a:custGeom>
            <a:avLst/>
            <a:gdLst/>
            <a:ahLst/>
            <a:cxnLst/>
            <a:rect l="l" t="t" r="r" b="b"/>
            <a:pathLst>
              <a:path w="8783053" h="6634583">
                <a:moveTo>
                  <a:pt x="0" y="0"/>
                </a:moveTo>
                <a:lnTo>
                  <a:pt x="8783053" y="0"/>
                </a:lnTo>
                <a:lnTo>
                  <a:pt x="8783053" y="6634582"/>
                </a:lnTo>
                <a:lnTo>
                  <a:pt x="0" y="663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235888" y="2287188"/>
            <a:ext cx="17243991" cy="728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</a:t>
            </a: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sse EnemyManager : Orchestration des adversaires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centralisée des ennemis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Conteneur et contrôleur de tous les ennemis du jeu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Simplifie l'interface entre le jeu et les instances d'ennemis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Création et distribution stratégique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Génération d'ennemis avec paramètres adaptés (createEnemies())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Placement intelligent évitant le joueur et respectant la carte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Persistance des données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Sauvegarde de l'état des ennemis par carte (saveEnemies())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Chargement contextuel selon la carte active (loadEnemies())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Format JSON pour flexibilité et maintenabilité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Mise à jour collective optimisée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Actualisation synchronisée de tous les ennemis (updateEnemies())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des interactions avec joueur et environnement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Cycle de vie des objets :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Création d'items lors de l'élimination d'ennemis</a:t>
            </a:r>
          </a:p>
          <a:p>
            <a:pPr algn="l">
              <a:lnSpc>
                <a:spcPts val="3393"/>
              </a:lnSpc>
            </a:pPr>
            <a:r>
              <a:rPr lang="en-US" sz="2100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Nettoyage des ressources lors des transitions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09" y="779105"/>
            <a:ext cx="7363111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ENEMY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6758" y="532766"/>
            <a:ext cx="5400193" cy="1273280"/>
            <a:chOff x="0" y="0"/>
            <a:chExt cx="1742846" cy="410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2846" cy="410936"/>
            </a:xfrm>
            <a:custGeom>
              <a:avLst/>
              <a:gdLst/>
              <a:ahLst/>
              <a:cxnLst/>
              <a:rect l="l" t="t" r="r" b="b"/>
              <a:pathLst>
                <a:path w="1742846" h="410936">
                  <a:moveTo>
                    <a:pt x="35841" y="0"/>
                  </a:moveTo>
                  <a:lnTo>
                    <a:pt x="1707005" y="0"/>
                  </a:lnTo>
                  <a:cubicBezTo>
                    <a:pt x="1716511" y="0"/>
                    <a:pt x="1725627" y="3776"/>
                    <a:pt x="1732348" y="10498"/>
                  </a:cubicBezTo>
                  <a:cubicBezTo>
                    <a:pt x="1739070" y="17219"/>
                    <a:pt x="1742846" y="26335"/>
                    <a:pt x="1742846" y="35841"/>
                  </a:cubicBezTo>
                  <a:lnTo>
                    <a:pt x="1742846" y="375095"/>
                  </a:lnTo>
                  <a:cubicBezTo>
                    <a:pt x="1742846" y="384600"/>
                    <a:pt x="1739070" y="393716"/>
                    <a:pt x="1732348" y="400438"/>
                  </a:cubicBezTo>
                  <a:cubicBezTo>
                    <a:pt x="1725627" y="407159"/>
                    <a:pt x="1716511" y="410936"/>
                    <a:pt x="1707005" y="410936"/>
                  </a:cubicBezTo>
                  <a:lnTo>
                    <a:pt x="35841" y="410936"/>
                  </a:lnTo>
                  <a:cubicBezTo>
                    <a:pt x="26335" y="410936"/>
                    <a:pt x="17219" y="407159"/>
                    <a:pt x="10498" y="400438"/>
                  </a:cubicBezTo>
                  <a:cubicBezTo>
                    <a:pt x="3776" y="393716"/>
                    <a:pt x="0" y="384600"/>
                    <a:pt x="0" y="375095"/>
                  </a:cubicBezTo>
                  <a:lnTo>
                    <a:pt x="0" y="35841"/>
                  </a:lnTo>
                  <a:cubicBezTo>
                    <a:pt x="0" y="26335"/>
                    <a:pt x="3776" y="17219"/>
                    <a:pt x="10498" y="10498"/>
                  </a:cubicBezTo>
                  <a:cubicBezTo>
                    <a:pt x="17219" y="3776"/>
                    <a:pt x="26335" y="0"/>
                    <a:pt x="35841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2846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0474" y="1936535"/>
            <a:ext cx="12143956" cy="8142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5" lvl="1" indent="-226693" algn="l">
              <a:lnSpc>
                <a:spcPts val="3393"/>
              </a:lnSpc>
              <a:buFont typeface="Arial"/>
              <a:buChar char="•"/>
            </a:pPr>
            <a:r>
              <a:rPr lang="en-US" sz="20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Clas</a:t>
            </a: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se Game : Moteur central du jeu</a:t>
            </a:r>
          </a:p>
          <a:p>
            <a:pPr marL="453385" lvl="1" indent="-226693" algn="l">
              <a:lnSpc>
                <a:spcPts val="3393"/>
              </a:lnSpc>
              <a:buFont typeface="Arial"/>
              <a:buChar char="•"/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Coordinateur principal :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Intègre tous les sous-systèmes (joueur, ennemis, objets, carte)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Gère le flux global et l'état du jeu</a:t>
            </a:r>
          </a:p>
          <a:p>
            <a:pPr marL="453385" lvl="1" indent="-226693" algn="l">
              <a:lnSpc>
                <a:spcPts val="3393"/>
              </a:lnSpc>
              <a:buFont typeface="Arial"/>
              <a:buChar char="•"/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Boucle de jeu complète :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Méthode update() synchronisant toutes les entités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du temps avec deltaTime pour animations fluides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Détection des collisions et interactions entre entités</a:t>
            </a:r>
          </a:p>
          <a:p>
            <a:pPr marL="453385" lvl="1" indent="-226693" algn="l">
              <a:lnSpc>
                <a:spcPts val="3393"/>
              </a:lnSpc>
              <a:buFont typeface="Arial"/>
              <a:buChar char="•"/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des entrées utilisateur :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Traitement des commandes via handleInput()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Déclenchement des actions appropriées (mouvement, attaque)</a:t>
            </a:r>
          </a:p>
          <a:p>
            <a:pPr marL="453385" lvl="1" indent="-226693" algn="l">
              <a:lnSpc>
                <a:spcPts val="3393"/>
              </a:lnSpc>
              <a:buFont typeface="Arial"/>
              <a:buChar char="•"/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transition entre cartes :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Chargement dynamique des cartes (loadMap())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des portails et téléportation du joueur</a:t>
            </a:r>
          </a:p>
          <a:p>
            <a:pPr marL="453385" lvl="1" indent="-226693" algn="l">
              <a:lnSpc>
                <a:spcPts val="3393"/>
              </a:lnSpc>
              <a:buFont typeface="Arial"/>
              <a:buChar char="•"/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Orchestration des managers spécialisés :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Délégation aux gestionnaires (EnemyManager, ArrowManager, etc.)</a:t>
            </a:r>
          </a:p>
          <a:p>
            <a:pPr algn="l">
              <a:lnSpc>
                <a:spcPts val="3393"/>
              </a:lnSpc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Coordination des interactions entre systèmes</a:t>
            </a:r>
          </a:p>
          <a:p>
            <a:pPr marL="453385" lvl="1" indent="-226693" algn="l">
              <a:lnSpc>
                <a:spcPts val="3393"/>
              </a:lnSpc>
              <a:buFont typeface="Arial"/>
              <a:buChar char="•"/>
            </a:pPr>
            <a:r>
              <a:rPr lang="en-US" sz="2099" u="none" strike="noStrike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Séparation des responsabilités : Isole la logique de jeu de l'interface graphique, permettant les modes texte et graphique avec le même moteur de jeu</a:t>
            </a:r>
          </a:p>
        </p:txBody>
      </p:sp>
      <p:sp>
        <p:nvSpPr>
          <p:cNvPr id="6" name="Freeform 6"/>
          <p:cNvSpPr/>
          <p:nvPr/>
        </p:nvSpPr>
        <p:spPr>
          <a:xfrm>
            <a:off x="12043692" y="356997"/>
            <a:ext cx="5849798" cy="9722005"/>
          </a:xfrm>
          <a:custGeom>
            <a:avLst/>
            <a:gdLst/>
            <a:ahLst/>
            <a:cxnLst/>
            <a:rect l="l" t="t" r="r" b="b"/>
            <a:pathLst>
              <a:path w="5849798" h="9722005">
                <a:moveTo>
                  <a:pt x="0" y="0"/>
                </a:moveTo>
                <a:lnTo>
                  <a:pt x="5849798" y="0"/>
                </a:lnTo>
                <a:lnTo>
                  <a:pt x="5849798" y="9722005"/>
                </a:lnTo>
                <a:lnTo>
                  <a:pt x="0" y="9722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-63781" y="779105"/>
            <a:ext cx="5117217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6758" y="532766"/>
            <a:ext cx="5400193" cy="1273280"/>
            <a:chOff x="0" y="0"/>
            <a:chExt cx="1742846" cy="410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2846" cy="410936"/>
            </a:xfrm>
            <a:custGeom>
              <a:avLst/>
              <a:gdLst/>
              <a:ahLst/>
              <a:cxnLst/>
              <a:rect l="l" t="t" r="r" b="b"/>
              <a:pathLst>
                <a:path w="1742846" h="410936">
                  <a:moveTo>
                    <a:pt x="35841" y="0"/>
                  </a:moveTo>
                  <a:lnTo>
                    <a:pt x="1707005" y="0"/>
                  </a:lnTo>
                  <a:cubicBezTo>
                    <a:pt x="1716511" y="0"/>
                    <a:pt x="1725627" y="3776"/>
                    <a:pt x="1732348" y="10498"/>
                  </a:cubicBezTo>
                  <a:cubicBezTo>
                    <a:pt x="1739070" y="17219"/>
                    <a:pt x="1742846" y="26335"/>
                    <a:pt x="1742846" y="35841"/>
                  </a:cubicBezTo>
                  <a:lnTo>
                    <a:pt x="1742846" y="375095"/>
                  </a:lnTo>
                  <a:cubicBezTo>
                    <a:pt x="1742846" y="384600"/>
                    <a:pt x="1739070" y="393716"/>
                    <a:pt x="1732348" y="400438"/>
                  </a:cubicBezTo>
                  <a:cubicBezTo>
                    <a:pt x="1725627" y="407159"/>
                    <a:pt x="1716511" y="410936"/>
                    <a:pt x="1707005" y="410936"/>
                  </a:cubicBezTo>
                  <a:lnTo>
                    <a:pt x="35841" y="410936"/>
                  </a:lnTo>
                  <a:cubicBezTo>
                    <a:pt x="26335" y="410936"/>
                    <a:pt x="17219" y="407159"/>
                    <a:pt x="10498" y="400438"/>
                  </a:cubicBezTo>
                  <a:cubicBezTo>
                    <a:pt x="3776" y="393716"/>
                    <a:pt x="0" y="384600"/>
                    <a:pt x="0" y="375095"/>
                  </a:cubicBezTo>
                  <a:lnTo>
                    <a:pt x="0" y="35841"/>
                  </a:lnTo>
                  <a:cubicBezTo>
                    <a:pt x="0" y="26335"/>
                    <a:pt x="3776" y="17219"/>
                    <a:pt x="10498" y="10498"/>
                  </a:cubicBezTo>
                  <a:cubicBezTo>
                    <a:pt x="17219" y="3776"/>
                    <a:pt x="26335" y="0"/>
                    <a:pt x="35841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2846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186191"/>
            <a:ext cx="8879041" cy="4480501"/>
          </a:xfrm>
          <a:custGeom>
            <a:avLst/>
            <a:gdLst/>
            <a:ahLst/>
            <a:cxnLst/>
            <a:rect l="l" t="t" r="r" b="b"/>
            <a:pathLst>
              <a:path w="8879041" h="4480501">
                <a:moveTo>
                  <a:pt x="0" y="0"/>
                </a:moveTo>
                <a:lnTo>
                  <a:pt x="8879041" y="0"/>
                </a:lnTo>
                <a:lnTo>
                  <a:pt x="8879041" y="4480501"/>
                </a:lnTo>
                <a:lnTo>
                  <a:pt x="0" y="4480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-63781" y="779105"/>
            <a:ext cx="5117217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008" y="2694917"/>
            <a:ext cx="9925643" cy="595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Classe Arrow : Projectiles dynamiques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Projectile avec trajectoire directionnelle :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Hérite d'Entity avec comportement spécifique aux projectiles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Déplacement linéaire selon une direction fixe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Propriétés de combat :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Valeur de dégâts configurable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d'état actif/inactif pour gestion du cycle de vie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Physique de mouvement :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Vitesse paramétrable affectant la distance parcourue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Conservation des coordonnées précédentes pour détection de collision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Interaction avec l'environnement :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Désactivation automatique lors de collision avec murs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Détection de collision avec ennemis via ArrowManager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Mise à jour basée sur le temps :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Déplacement progressif basé sur elapsedTime</a:t>
            </a:r>
          </a:p>
          <a:p>
            <a:pPr algn="l">
              <a:lnSpc>
                <a:spcPts val="2940"/>
              </a:lnSpc>
            </a:pPr>
            <a:r>
              <a:rPr lang="en-US" sz="2100" spc="16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Mouvement par étapes pour vérification précise des collisions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6758" y="532766"/>
            <a:ext cx="5400193" cy="1273280"/>
            <a:chOff x="0" y="0"/>
            <a:chExt cx="1742846" cy="410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2846" cy="410936"/>
            </a:xfrm>
            <a:custGeom>
              <a:avLst/>
              <a:gdLst/>
              <a:ahLst/>
              <a:cxnLst/>
              <a:rect l="l" t="t" r="r" b="b"/>
              <a:pathLst>
                <a:path w="1742846" h="410936">
                  <a:moveTo>
                    <a:pt x="35841" y="0"/>
                  </a:moveTo>
                  <a:lnTo>
                    <a:pt x="1707005" y="0"/>
                  </a:lnTo>
                  <a:cubicBezTo>
                    <a:pt x="1716511" y="0"/>
                    <a:pt x="1725627" y="3776"/>
                    <a:pt x="1732348" y="10498"/>
                  </a:cubicBezTo>
                  <a:cubicBezTo>
                    <a:pt x="1739070" y="17219"/>
                    <a:pt x="1742846" y="26335"/>
                    <a:pt x="1742846" y="35841"/>
                  </a:cubicBezTo>
                  <a:lnTo>
                    <a:pt x="1742846" y="375095"/>
                  </a:lnTo>
                  <a:cubicBezTo>
                    <a:pt x="1742846" y="384600"/>
                    <a:pt x="1739070" y="393716"/>
                    <a:pt x="1732348" y="400438"/>
                  </a:cubicBezTo>
                  <a:cubicBezTo>
                    <a:pt x="1725627" y="407159"/>
                    <a:pt x="1716511" y="410936"/>
                    <a:pt x="1707005" y="410936"/>
                  </a:cubicBezTo>
                  <a:lnTo>
                    <a:pt x="35841" y="410936"/>
                  </a:lnTo>
                  <a:cubicBezTo>
                    <a:pt x="26335" y="410936"/>
                    <a:pt x="17219" y="407159"/>
                    <a:pt x="10498" y="400438"/>
                  </a:cubicBezTo>
                  <a:cubicBezTo>
                    <a:pt x="3776" y="393716"/>
                    <a:pt x="0" y="384600"/>
                    <a:pt x="0" y="375095"/>
                  </a:cubicBezTo>
                  <a:lnTo>
                    <a:pt x="0" y="35841"/>
                  </a:lnTo>
                  <a:cubicBezTo>
                    <a:pt x="0" y="26335"/>
                    <a:pt x="3776" y="17219"/>
                    <a:pt x="10498" y="10498"/>
                  </a:cubicBezTo>
                  <a:cubicBezTo>
                    <a:pt x="17219" y="3776"/>
                    <a:pt x="26335" y="0"/>
                    <a:pt x="35841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2846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908167" y="532766"/>
            <a:ext cx="9379833" cy="4978526"/>
          </a:xfrm>
          <a:custGeom>
            <a:avLst/>
            <a:gdLst/>
            <a:ahLst/>
            <a:cxnLst/>
            <a:rect l="l" t="t" r="r" b="b"/>
            <a:pathLst>
              <a:path w="9379833" h="4978526">
                <a:moveTo>
                  <a:pt x="0" y="0"/>
                </a:moveTo>
                <a:lnTo>
                  <a:pt x="9379833" y="0"/>
                </a:lnTo>
                <a:lnTo>
                  <a:pt x="9379833" y="4978526"/>
                </a:lnTo>
                <a:lnTo>
                  <a:pt x="0" y="4978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-63781" y="779105"/>
            <a:ext cx="5117217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BOMB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2998" y="2124692"/>
            <a:ext cx="12207426" cy="716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55"/>
              </a:lnSpc>
              <a:buFont typeface="Arial"/>
              <a:buChar char="•"/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Classe Bomb : Explosifs stratégiques</a:t>
            </a:r>
          </a:p>
          <a:p>
            <a:pPr marL="474979" lvl="1" indent="-237490" algn="l">
              <a:lnSpc>
                <a:spcPts val="3555"/>
              </a:lnSpc>
              <a:buFont typeface="Arial"/>
              <a:buChar char="•"/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Arme à zone d'effet temporisée :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Hérite d'Entity avec mécanisme d'explosion différée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Placement stratégique pour piéger ou débloquer des zones</a:t>
            </a:r>
          </a:p>
          <a:p>
            <a:pPr marL="474979" lvl="1" indent="-237490" algn="l">
              <a:lnSpc>
                <a:spcPts val="3555"/>
              </a:lnSpc>
              <a:buFont typeface="Arial"/>
              <a:buChar char="•"/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minuterie :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Compte à rebours configurable avant détonation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Suivi du temps via elapsedTime et detonationTime</a:t>
            </a:r>
          </a:p>
          <a:p>
            <a:pPr marL="474979" lvl="1" indent="-237490" algn="l">
              <a:lnSpc>
                <a:spcPts val="3555"/>
              </a:lnSpc>
              <a:buFont typeface="Arial"/>
              <a:buChar char="•"/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Explosion avec rayon d'action :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Dégâts dans un rayon configurable (explosionRadius)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Affecte à la fois les ennemis et potentiellement le joueur</a:t>
            </a:r>
          </a:p>
          <a:p>
            <a:pPr marL="474979" lvl="1" indent="-237490" algn="l">
              <a:lnSpc>
                <a:spcPts val="3555"/>
              </a:lnSpc>
              <a:buFont typeface="Arial"/>
              <a:buChar char="•"/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États visuels distincts :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Symbole normal ('O') avant explosion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Symbole d'explosion ('*') pendant la détonation</a:t>
            </a:r>
          </a:p>
          <a:p>
            <a:pPr marL="474979" lvl="1" indent="-237490" algn="l">
              <a:lnSpc>
                <a:spcPts val="3555"/>
              </a:lnSpc>
              <a:buFont typeface="Arial"/>
              <a:buChar char="•"/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d'état post-explosion :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Méthode hasJustExploded() pour synchroniser effets visuels</a:t>
            </a:r>
          </a:p>
          <a:p>
            <a:pPr algn="l">
              <a:lnSpc>
                <a:spcPts val="3555"/>
              </a:lnSpc>
            </a:pPr>
            <a:r>
              <a:rPr lang="en-US" sz="2199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nettoyage automatique via BombManager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77110" y="635797"/>
            <a:ext cx="9826841" cy="4560526"/>
          </a:xfrm>
          <a:custGeom>
            <a:avLst/>
            <a:gdLst/>
            <a:ahLst/>
            <a:cxnLst/>
            <a:rect l="l" t="t" r="r" b="b"/>
            <a:pathLst>
              <a:path w="9826841" h="4560526">
                <a:moveTo>
                  <a:pt x="0" y="0"/>
                </a:moveTo>
                <a:lnTo>
                  <a:pt x="9826841" y="0"/>
                </a:lnTo>
                <a:lnTo>
                  <a:pt x="9826841" y="4560526"/>
                </a:lnTo>
                <a:lnTo>
                  <a:pt x="0" y="4560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9" b="-61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02840" y="2839860"/>
            <a:ext cx="12207426" cy="641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Éléments collectables diversifiés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Hérite d'Entity avec propriétés spécifiques aux objets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Types variés (cœur, etc.) avec effets distincts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valeur et effet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Valeur numérique déterminant la puissance de l'effet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Application automatique lors de la collecte par le joueur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Cycle de vie temporel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Durée de vie limitée configurable (lifespan)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Disparition automatique après expiration (isExpired())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Représentation visuelle distinctive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Symboles spécifiques selon le type (ex: 'H' pour cœur)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Facilite l'identification visuelle par le joueur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Intégration avec l'économie du jeu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Apparition suite à l'élimination d'ennemis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centralisée via ItemManager pour distribution équilibrée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346758" y="532766"/>
            <a:ext cx="5400193" cy="1273280"/>
            <a:chOff x="0" y="0"/>
            <a:chExt cx="1742846" cy="4109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2846" cy="410936"/>
            </a:xfrm>
            <a:custGeom>
              <a:avLst/>
              <a:gdLst/>
              <a:ahLst/>
              <a:cxnLst/>
              <a:rect l="l" t="t" r="r" b="b"/>
              <a:pathLst>
                <a:path w="1742846" h="410936">
                  <a:moveTo>
                    <a:pt x="35841" y="0"/>
                  </a:moveTo>
                  <a:lnTo>
                    <a:pt x="1707005" y="0"/>
                  </a:lnTo>
                  <a:cubicBezTo>
                    <a:pt x="1716511" y="0"/>
                    <a:pt x="1725627" y="3776"/>
                    <a:pt x="1732348" y="10498"/>
                  </a:cubicBezTo>
                  <a:cubicBezTo>
                    <a:pt x="1739070" y="17219"/>
                    <a:pt x="1742846" y="26335"/>
                    <a:pt x="1742846" y="35841"/>
                  </a:cubicBezTo>
                  <a:lnTo>
                    <a:pt x="1742846" y="375095"/>
                  </a:lnTo>
                  <a:cubicBezTo>
                    <a:pt x="1742846" y="384600"/>
                    <a:pt x="1739070" y="393716"/>
                    <a:pt x="1732348" y="400438"/>
                  </a:cubicBezTo>
                  <a:cubicBezTo>
                    <a:pt x="1725627" y="407159"/>
                    <a:pt x="1716511" y="410936"/>
                    <a:pt x="1707005" y="410936"/>
                  </a:cubicBezTo>
                  <a:lnTo>
                    <a:pt x="35841" y="410936"/>
                  </a:lnTo>
                  <a:cubicBezTo>
                    <a:pt x="26335" y="410936"/>
                    <a:pt x="17219" y="407159"/>
                    <a:pt x="10498" y="400438"/>
                  </a:cubicBezTo>
                  <a:cubicBezTo>
                    <a:pt x="3776" y="393716"/>
                    <a:pt x="0" y="384600"/>
                    <a:pt x="0" y="375095"/>
                  </a:cubicBezTo>
                  <a:lnTo>
                    <a:pt x="0" y="35841"/>
                  </a:lnTo>
                  <a:cubicBezTo>
                    <a:pt x="0" y="26335"/>
                    <a:pt x="3776" y="17219"/>
                    <a:pt x="10498" y="10498"/>
                  </a:cubicBezTo>
                  <a:cubicBezTo>
                    <a:pt x="17219" y="3776"/>
                    <a:pt x="26335" y="0"/>
                    <a:pt x="35841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42846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789" y="779105"/>
            <a:ext cx="5037646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6758" y="532766"/>
            <a:ext cx="5400193" cy="1273280"/>
            <a:chOff x="0" y="0"/>
            <a:chExt cx="1742846" cy="410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2846" cy="410936"/>
            </a:xfrm>
            <a:custGeom>
              <a:avLst/>
              <a:gdLst/>
              <a:ahLst/>
              <a:cxnLst/>
              <a:rect l="l" t="t" r="r" b="b"/>
              <a:pathLst>
                <a:path w="1742846" h="410936">
                  <a:moveTo>
                    <a:pt x="35841" y="0"/>
                  </a:moveTo>
                  <a:lnTo>
                    <a:pt x="1707005" y="0"/>
                  </a:lnTo>
                  <a:cubicBezTo>
                    <a:pt x="1716511" y="0"/>
                    <a:pt x="1725627" y="3776"/>
                    <a:pt x="1732348" y="10498"/>
                  </a:cubicBezTo>
                  <a:cubicBezTo>
                    <a:pt x="1739070" y="17219"/>
                    <a:pt x="1742846" y="26335"/>
                    <a:pt x="1742846" y="35841"/>
                  </a:cubicBezTo>
                  <a:lnTo>
                    <a:pt x="1742846" y="375095"/>
                  </a:lnTo>
                  <a:cubicBezTo>
                    <a:pt x="1742846" y="384600"/>
                    <a:pt x="1739070" y="393716"/>
                    <a:pt x="1732348" y="400438"/>
                  </a:cubicBezTo>
                  <a:cubicBezTo>
                    <a:pt x="1725627" y="407159"/>
                    <a:pt x="1716511" y="410936"/>
                    <a:pt x="1707005" y="410936"/>
                  </a:cubicBezTo>
                  <a:lnTo>
                    <a:pt x="35841" y="410936"/>
                  </a:lnTo>
                  <a:cubicBezTo>
                    <a:pt x="26335" y="410936"/>
                    <a:pt x="17219" y="407159"/>
                    <a:pt x="10498" y="400438"/>
                  </a:cubicBezTo>
                  <a:cubicBezTo>
                    <a:pt x="3776" y="393716"/>
                    <a:pt x="0" y="384600"/>
                    <a:pt x="0" y="375095"/>
                  </a:cubicBezTo>
                  <a:lnTo>
                    <a:pt x="0" y="35841"/>
                  </a:lnTo>
                  <a:cubicBezTo>
                    <a:pt x="0" y="26335"/>
                    <a:pt x="3776" y="17219"/>
                    <a:pt x="10498" y="10498"/>
                  </a:cubicBezTo>
                  <a:cubicBezTo>
                    <a:pt x="17219" y="3776"/>
                    <a:pt x="26335" y="0"/>
                    <a:pt x="35841" y="0"/>
                  </a:cubicBezTo>
                  <a:close/>
                </a:path>
              </a:pathLst>
            </a:custGeom>
            <a:solidFill>
              <a:srgbClr val="91AA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42846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6587" y="2791264"/>
            <a:ext cx="9777665" cy="5989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Classe SDLGame : Interface graphique SDL2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Moteur de rendu graphique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Implémentation visuelle du jeu utilisant SDL2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Transformation de la logique abstraite en éléments visuels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Boucle de jeu graphique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Méthode boucle() gérant événements et rendu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Synchronisation temporelle pour animations fluides (60 FPS)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Gestion des entrées utilisateur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Capture des événements clavier via SDL_Event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Mappage vers les commandes du jeu (handleInput())</a:t>
            </a:r>
          </a:p>
          <a:p>
            <a:pPr marL="453390" lvl="1" indent="-226695" algn="l">
              <a:lnSpc>
                <a:spcPts val="3393"/>
              </a:lnSpc>
              <a:buFont typeface="Arial"/>
              <a:buChar char="•"/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Système de rendu :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Affichage de sprites pour entités et environnement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Effets visuels pour actions (attaques, explosions)</a:t>
            </a:r>
          </a:p>
          <a:p>
            <a:pPr algn="l">
              <a:lnSpc>
                <a:spcPts val="3393"/>
              </a:lnSpc>
            </a:pPr>
            <a:r>
              <a:rPr lang="en-US" sz="2100">
                <a:solidFill>
                  <a:srgbClr val="14202B"/>
                </a:solidFill>
                <a:latin typeface="Montserrat"/>
                <a:ea typeface="Montserrat"/>
                <a:cs typeface="Montserrat"/>
                <a:sym typeface="Montserrat"/>
              </a:rPr>
              <a:t>Interface utilisateur avec informations de jeu</a:t>
            </a:r>
          </a:p>
        </p:txBody>
      </p:sp>
      <p:sp>
        <p:nvSpPr>
          <p:cNvPr id="6" name="Freeform 6"/>
          <p:cNvSpPr/>
          <p:nvPr/>
        </p:nvSpPr>
        <p:spPr>
          <a:xfrm>
            <a:off x="10402068" y="396651"/>
            <a:ext cx="6857232" cy="9493699"/>
          </a:xfrm>
          <a:custGeom>
            <a:avLst/>
            <a:gdLst/>
            <a:ahLst/>
            <a:cxnLst/>
            <a:rect l="l" t="t" r="r" b="b"/>
            <a:pathLst>
              <a:path w="6857232" h="9493699">
                <a:moveTo>
                  <a:pt x="0" y="0"/>
                </a:moveTo>
                <a:lnTo>
                  <a:pt x="6857232" y="0"/>
                </a:lnTo>
                <a:lnTo>
                  <a:pt x="6857232" y="9493698"/>
                </a:lnTo>
                <a:lnTo>
                  <a:pt x="0" y="949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0" y="779105"/>
            <a:ext cx="5037646" cy="76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892" b="1" spc="459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SDL GAME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06474" y="2780344"/>
            <a:ext cx="12275052" cy="1389731"/>
            <a:chOff x="0" y="0"/>
            <a:chExt cx="3029710" cy="343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9710" cy="343011"/>
            </a:xfrm>
            <a:custGeom>
              <a:avLst/>
              <a:gdLst/>
              <a:ahLst/>
              <a:cxnLst/>
              <a:rect l="l" t="t" r="r" b="b"/>
              <a:pathLst>
                <a:path w="3029710" h="343011">
                  <a:moveTo>
                    <a:pt x="14506" y="0"/>
                  </a:moveTo>
                  <a:lnTo>
                    <a:pt x="3015204" y="0"/>
                  </a:lnTo>
                  <a:cubicBezTo>
                    <a:pt x="3023215" y="0"/>
                    <a:pt x="3029710" y="6495"/>
                    <a:pt x="3029710" y="14506"/>
                  </a:cubicBezTo>
                  <a:lnTo>
                    <a:pt x="3029710" y="328505"/>
                  </a:lnTo>
                  <a:cubicBezTo>
                    <a:pt x="3029710" y="336517"/>
                    <a:pt x="3023215" y="343011"/>
                    <a:pt x="3015204" y="343011"/>
                  </a:cubicBezTo>
                  <a:lnTo>
                    <a:pt x="14506" y="343011"/>
                  </a:lnTo>
                  <a:cubicBezTo>
                    <a:pt x="10659" y="343011"/>
                    <a:pt x="6969" y="341483"/>
                    <a:pt x="4249" y="338762"/>
                  </a:cubicBezTo>
                  <a:cubicBezTo>
                    <a:pt x="1528" y="336042"/>
                    <a:pt x="0" y="332352"/>
                    <a:pt x="0" y="328505"/>
                  </a:cubicBezTo>
                  <a:lnTo>
                    <a:pt x="0" y="14506"/>
                  </a:lnTo>
                  <a:cubicBezTo>
                    <a:pt x="0" y="6495"/>
                    <a:pt x="6495" y="0"/>
                    <a:pt x="14506" y="0"/>
                  </a:cubicBezTo>
                  <a:close/>
                </a:path>
              </a:pathLst>
            </a:custGeom>
            <a:solidFill>
              <a:srgbClr val="D8E7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29710" cy="400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12013" y="2996451"/>
            <a:ext cx="9263974" cy="89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544">
                <a:solidFill>
                  <a:srgbClr val="14202B"/>
                </a:solidFill>
                <a:latin typeface="Ovo"/>
                <a:ea typeface="Ovo"/>
                <a:cs typeface="Ovo"/>
                <a:sym typeface="Ovo"/>
              </a:rPr>
              <a:t>Le diagramme de Gantt et le diagramme des classes sont différents entre le début et la fin du projet.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502764" y="592586"/>
            <a:ext cx="7282473" cy="1339164"/>
            <a:chOff x="0" y="0"/>
            <a:chExt cx="2234698" cy="4109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4698" cy="410936"/>
            </a:xfrm>
            <a:custGeom>
              <a:avLst/>
              <a:gdLst/>
              <a:ahLst/>
              <a:cxnLst/>
              <a:rect l="l" t="t" r="r" b="b"/>
              <a:pathLst>
                <a:path w="2234698" h="410936">
                  <a:moveTo>
                    <a:pt x="26577" y="0"/>
                  </a:moveTo>
                  <a:lnTo>
                    <a:pt x="2208121" y="0"/>
                  </a:lnTo>
                  <a:cubicBezTo>
                    <a:pt x="2215170" y="0"/>
                    <a:pt x="2221930" y="2800"/>
                    <a:pt x="2226914" y="7784"/>
                  </a:cubicBezTo>
                  <a:cubicBezTo>
                    <a:pt x="2231898" y="12768"/>
                    <a:pt x="2234698" y="19529"/>
                    <a:pt x="2234698" y="26577"/>
                  </a:cubicBezTo>
                  <a:lnTo>
                    <a:pt x="2234698" y="384358"/>
                  </a:lnTo>
                  <a:cubicBezTo>
                    <a:pt x="2234698" y="399036"/>
                    <a:pt x="2222799" y="410936"/>
                    <a:pt x="2208121" y="410936"/>
                  </a:cubicBezTo>
                  <a:lnTo>
                    <a:pt x="26577" y="410936"/>
                  </a:lnTo>
                  <a:cubicBezTo>
                    <a:pt x="11899" y="410936"/>
                    <a:pt x="0" y="399036"/>
                    <a:pt x="0" y="384358"/>
                  </a:cubicBezTo>
                  <a:lnTo>
                    <a:pt x="0" y="26577"/>
                  </a:lnTo>
                  <a:cubicBezTo>
                    <a:pt x="0" y="11899"/>
                    <a:pt x="11899" y="0"/>
                    <a:pt x="26577" y="0"/>
                  </a:cubicBezTo>
                  <a:close/>
                </a:path>
              </a:pathLst>
            </a:custGeom>
            <a:solidFill>
              <a:srgbClr val="91AAB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234698" cy="458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453001" y="843132"/>
            <a:ext cx="5381997" cy="80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sz="5146" b="1" spc="483">
                <a:solidFill>
                  <a:srgbClr val="1420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006474" y="4543939"/>
            <a:ext cx="12275052" cy="1389731"/>
            <a:chOff x="0" y="0"/>
            <a:chExt cx="3029710" cy="3430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29710" cy="343011"/>
            </a:xfrm>
            <a:custGeom>
              <a:avLst/>
              <a:gdLst/>
              <a:ahLst/>
              <a:cxnLst/>
              <a:rect l="l" t="t" r="r" b="b"/>
              <a:pathLst>
                <a:path w="3029710" h="343011">
                  <a:moveTo>
                    <a:pt x="14506" y="0"/>
                  </a:moveTo>
                  <a:lnTo>
                    <a:pt x="3015204" y="0"/>
                  </a:lnTo>
                  <a:cubicBezTo>
                    <a:pt x="3023215" y="0"/>
                    <a:pt x="3029710" y="6495"/>
                    <a:pt x="3029710" y="14506"/>
                  </a:cubicBezTo>
                  <a:lnTo>
                    <a:pt x="3029710" y="328505"/>
                  </a:lnTo>
                  <a:cubicBezTo>
                    <a:pt x="3029710" y="336517"/>
                    <a:pt x="3023215" y="343011"/>
                    <a:pt x="3015204" y="343011"/>
                  </a:cubicBezTo>
                  <a:lnTo>
                    <a:pt x="14506" y="343011"/>
                  </a:lnTo>
                  <a:cubicBezTo>
                    <a:pt x="10659" y="343011"/>
                    <a:pt x="6969" y="341483"/>
                    <a:pt x="4249" y="338762"/>
                  </a:cubicBezTo>
                  <a:cubicBezTo>
                    <a:pt x="1528" y="336042"/>
                    <a:pt x="0" y="332352"/>
                    <a:pt x="0" y="328505"/>
                  </a:cubicBezTo>
                  <a:lnTo>
                    <a:pt x="0" y="14506"/>
                  </a:lnTo>
                  <a:cubicBezTo>
                    <a:pt x="0" y="6495"/>
                    <a:pt x="6495" y="0"/>
                    <a:pt x="14506" y="0"/>
                  </a:cubicBezTo>
                  <a:close/>
                </a:path>
              </a:pathLst>
            </a:custGeom>
            <a:solidFill>
              <a:srgbClr val="D8E7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029710" cy="400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722033" y="4760054"/>
            <a:ext cx="10843933" cy="89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544">
                <a:solidFill>
                  <a:srgbClr val="14202B"/>
                </a:solidFill>
                <a:latin typeface="Ovo"/>
                <a:ea typeface="Ovo"/>
                <a:cs typeface="Ovo"/>
                <a:sym typeface="Ovo"/>
              </a:rPr>
              <a:t>Certaines fonctionnalités n’ont pas été implémentés comme la sauvegarde, de l’audio ou la gestion d’un inventaire.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006474" y="6307367"/>
            <a:ext cx="12275052" cy="1793727"/>
            <a:chOff x="0" y="0"/>
            <a:chExt cx="3029710" cy="4427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29710" cy="442725"/>
            </a:xfrm>
            <a:custGeom>
              <a:avLst/>
              <a:gdLst/>
              <a:ahLst/>
              <a:cxnLst/>
              <a:rect l="l" t="t" r="r" b="b"/>
              <a:pathLst>
                <a:path w="3029710" h="442725">
                  <a:moveTo>
                    <a:pt x="14506" y="0"/>
                  </a:moveTo>
                  <a:lnTo>
                    <a:pt x="3015204" y="0"/>
                  </a:lnTo>
                  <a:cubicBezTo>
                    <a:pt x="3023215" y="0"/>
                    <a:pt x="3029710" y="6495"/>
                    <a:pt x="3029710" y="14506"/>
                  </a:cubicBezTo>
                  <a:lnTo>
                    <a:pt x="3029710" y="428219"/>
                  </a:lnTo>
                  <a:cubicBezTo>
                    <a:pt x="3029710" y="436230"/>
                    <a:pt x="3023215" y="442725"/>
                    <a:pt x="3015204" y="442725"/>
                  </a:cubicBezTo>
                  <a:lnTo>
                    <a:pt x="14506" y="442725"/>
                  </a:lnTo>
                  <a:cubicBezTo>
                    <a:pt x="6495" y="442725"/>
                    <a:pt x="0" y="436230"/>
                    <a:pt x="0" y="428219"/>
                  </a:cubicBezTo>
                  <a:lnTo>
                    <a:pt x="0" y="14506"/>
                  </a:lnTo>
                  <a:cubicBezTo>
                    <a:pt x="0" y="6495"/>
                    <a:pt x="6495" y="0"/>
                    <a:pt x="14506" y="0"/>
                  </a:cubicBezTo>
                  <a:close/>
                </a:path>
              </a:pathLst>
            </a:custGeom>
            <a:solidFill>
              <a:srgbClr val="D8E7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029710" cy="499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364254" y="6523154"/>
            <a:ext cx="11559493" cy="133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544">
                <a:solidFill>
                  <a:srgbClr val="14202B"/>
                </a:solidFill>
                <a:latin typeface="Ovo"/>
                <a:ea typeface="Ovo"/>
                <a:cs typeface="Ovo"/>
                <a:sym typeface="Ovo"/>
              </a:rPr>
              <a:t>Nous avons eux des difficultés lors de la gestion des cooldowns, les déplacements des flèches, pour la sauvegarde des monstres en fichiers JSON, ou encore pour la création de sprites.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289521" y="-954336"/>
            <a:ext cx="3116691" cy="3116691"/>
          </a:xfrm>
          <a:custGeom>
            <a:avLst/>
            <a:gdLst/>
            <a:ahLst/>
            <a:cxnLst/>
            <a:rect l="l" t="t" r="r" b="b"/>
            <a:pathLst>
              <a:path w="3116691" h="3116691">
                <a:moveTo>
                  <a:pt x="0" y="0"/>
                </a:moveTo>
                <a:lnTo>
                  <a:pt x="3116690" y="0"/>
                </a:lnTo>
                <a:lnTo>
                  <a:pt x="3116690" y="3116691"/>
                </a:lnTo>
                <a:lnTo>
                  <a:pt x="0" y="3116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Freeform 19"/>
          <p:cNvSpPr/>
          <p:nvPr/>
        </p:nvSpPr>
        <p:spPr>
          <a:xfrm rot="5400000" flipH="1">
            <a:off x="-860655" y="8296153"/>
            <a:ext cx="3131431" cy="2967031"/>
          </a:xfrm>
          <a:custGeom>
            <a:avLst/>
            <a:gdLst/>
            <a:ahLst/>
            <a:cxnLst/>
            <a:rect l="l" t="t" r="r" b="b"/>
            <a:pathLst>
              <a:path w="3131431" h="2967031">
                <a:moveTo>
                  <a:pt x="3131431" y="0"/>
                </a:moveTo>
                <a:lnTo>
                  <a:pt x="0" y="0"/>
                </a:lnTo>
                <a:lnTo>
                  <a:pt x="0" y="2967031"/>
                </a:lnTo>
                <a:lnTo>
                  <a:pt x="3131431" y="2967031"/>
                </a:lnTo>
                <a:lnTo>
                  <a:pt x="31314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1226</Words>
  <Application>Microsoft Office PowerPoint</Application>
  <PresentationFormat>Personnalisé</PresentationFormat>
  <Paragraphs>180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Montserrat Bold</vt:lpstr>
      <vt:lpstr>Ovo</vt:lpstr>
      <vt:lpstr>Arial</vt:lpstr>
      <vt:lpstr>Montserrat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PROJET_HK</dc:title>
  <cp:lastModifiedBy>Ugo Hong</cp:lastModifiedBy>
  <cp:revision>2</cp:revision>
  <dcterms:created xsi:type="dcterms:W3CDTF">2006-08-16T00:00:00Z</dcterms:created>
  <dcterms:modified xsi:type="dcterms:W3CDTF">2025-04-21T15:54:10Z</dcterms:modified>
  <dc:identifier>DAGlRoOSE48</dc:identifier>
</cp:coreProperties>
</file>